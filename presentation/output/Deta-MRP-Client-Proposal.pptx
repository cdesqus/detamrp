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8890">
            <a:solidFill>
              <a:srgbClr val="D9E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653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 MRP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7863840" y="-1097280"/>
            <a:ext cx="5577840" cy="5577840"/>
          </a:xfrm>
          <a:prstGeom prst="arc">
            <a:avLst/>
          </a:prstGeom>
          <a:solidFill>
            <a:srgbClr val="0B1F3A">
              <a:alpha val="0"/>
            </a:srgbClr>
          </a:solidFill>
          <a:ln w="406400">
            <a:solidFill>
              <a:srgbClr val="6CC4F5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206240"/>
            <a:ext cx="2560320" cy="2560320"/>
          </a:xfrm>
          <a:prstGeom prst="ellipse">
            <a:avLst/>
          </a:prstGeom>
          <a:solidFill>
            <a:srgbClr val="2387D9">
              <a:alpha val="85000"/>
            </a:srgbClr>
          </a:solidFill>
          <a:ln w="12700">
            <a:solidFill>
              <a:srgbClr val="2387D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583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 MRP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Smarter, Paperless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Purchase Order Process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7307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D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 approvals. Improve visibility. Keep operations moving.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4800600"/>
            <a:ext cx="960120" cy="0"/>
          </a:xfrm>
          <a:prstGeom prst="line">
            <a:avLst/>
          </a:prstGeom>
          <a:noFill/>
          <a:ln w="63500">
            <a:solidFill>
              <a:srgbClr val="6CC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029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PROPOSAL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Current 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Purchase order approval should not stop when decision-makers are away.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2176272"/>
            <a:ext cx="3703320" cy="3474720"/>
          </a:xfrm>
          <a:prstGeom prst="roundRect">
            <a:avLst>
              <a:gd name="adj" fmla="val 3947"/>
            </a:avLst>
          </a:prstGeom>
          <a:solidFill>
            <a:srgbClr val="0B1F3A"/>
          </a:solidFill>
          <a:ln w="889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42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BOTTLENECK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880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physical document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waiting on a physical desk.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60120" y="47731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keeps moving.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FD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should too.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92040" y="2386584"/>
            <a:ext cx="146304" cy="146304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286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documents require physical handovers.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892040" y="3145536"/>
            <a:ext cx="146304" cy="146304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304495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travel can delay approval.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892040" y="3904488"/>
            <a:ext cx="146304" cy="146304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80390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have limited visibility into PO status.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892040" y="4663440"/>
            <a:ext cx="146304" cy="146304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456285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follow-ups take time and are difficult to track.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Businesses Need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faster process, without losing control.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10698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25400" dist="50800" dir="2700000">
              <a:srgbClr val="9BB6C9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85416"/>
            <a:ext cx="246888" cy="246888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21762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1305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and review purchase orders digitally.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770632"/>
            <a:ext cx="10698480" cy="530352"/>
          </a:xfrm>
          <a:prstGeom prst="roundRect">
            <a:avLst>
              <a:gd name="adj" fmla="val 17241"/>
            </a:avLst>
          </a:prstGeom>
          <a:solidFill>
            <a:srgbClr val="EAF6FD"/>
          </a:solidFill>
          <a:ln w="8890">
            <a:solidFill>
              <a:srgbClr val="6CC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898648"/>
            <a:ext cx="246888" cy="246888"/>
          </a:xfrm>
          <a:prstGeom prst="ellipse">
            <a:avLst/>
          </a:prstGeom>
          <a:solidFill>
            <a:srgbClr val="2387D9"/>
          </a:solidFill>
          <a:ln w="12700">
            <a:solidFill>
              <a:srgbClr val="238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88950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28437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from anywhere.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483864"/>
            <a:ext cx="10698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9BB6C9">
                <a:alpha val="14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3611880"/>
            <a:ext cx="246888" cy="246888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6027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5570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every PO from submission to completion.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197096"/>
            <a:ext cx="10698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9BB6C9">
                <a:alpha val="1400000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4325112"/>
            <a:ext cx="246888" cy="246888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43159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42702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documents and approval history in one place.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910328"/>
            <a:ext cx="106984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9BB6C9">
                <a:alpha val="140000000000000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" y="5038344"/>
            <a:ext cx="246888" cy="246888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50292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each team access based on their role.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Introducing Deta MRP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connected workspace for procurement and material control.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 MRP is a ready-to-use platform that digitalizes purchase orders, approvals, receiving, inventory monitoring, and reporting.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5800" y="331012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can be customized to match each company’s workflow, roles, and operational requirements.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806440" y="1993392"/>
            <a:ext cx="5532120" cy="3611880"/>
          </a:xfrm>
          <a:prstGeom prst="roundRect">
            <a:avLst>
              <a:gd name="adj" fmla="val 4557"/>
            </a:avLst>
          </a:prstGeom>
          <a:solidFill>
            <a:srgbClr val="F6FAFD"/>
          </a:solidFill>
          <a:ln w="8890">
            <a:solidFill>
              <a:srgbClr val="D9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08192" y="2286000"/>
            <a:ext cx="4937760" cy="530352"/>
          </a:xfrm>
          <a:prstGeom prst="roundRect">
            <a:avLst>
              <a:gd name="adj" fmla="val 17241"/>
            </a:avLst>
          </a:prstGeom>
          <a:solidFill>
            <a:srgbClr val="0B1F3A"/>
          </a:solidFill>
          <a:ln w="889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 MRP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306324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9BB6C9">
                <a:alpha val="1.4e+2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18504" y="31912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3721608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EAF6FD"/>
          </a:solidFill>
          <a:ln w="8890">
            <a:solidFill>
              <a:srgbClr val="6CC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38496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Orders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4379976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9BB6C9">
                <a:alpha val="1.4000000000000002e+2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18504" y="45079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Inbox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81344" y="306324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9BB6C9">
                <a:alpha val="1.4000000000000003e+3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31912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1344" y="3721608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9BB6C9">
                <a:alpha val="1.4000000000000003e+3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18504" y="38496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Inventory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18120" y="3063240"/>
            <a:ext cx="2907792" cy="179222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9BB6C9">
                <a:alpha val="1.4000000000000002e+4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65008" y="3310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STATUS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5008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065008" y="4251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purchase request to stock visibility.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12648" y="2743200"/>
            <a:ext cx="530352" cy="530352"/>
          </a:xfrm>
          <a:prstGeom prst="ellipse">
            <a:avLst/>
          </a:prstGeom>
          <a:solidFill>
            <a:srgbClr val="EAF6FD"/>
          </a:solidFill>
          <a:ln w="16510">
            <a:solidFill>
              <a:srgbClr val="6CC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" y="35021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25296" y="3008376"/>
            <a:ext cx="914400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40280" y="2743200"/>
            <a:ext cx="530352" cy="530352"/>
          </a:xfrm>
          <a:prstGeom prst="ellipse">
            <a:avLst/>
          </a:prstGeom>
          <a:solidFill>
            <a:srgbClr val="EAF6FD"/>
          </a:solidFill>
          <a:ln w="16510">
            <a:solidFill>
              <a:srgbClr val="6CC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11096" y="35021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52928" y="3008376"/>
            <a:ext cx="914400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67912" y="2743200"/>
            <a:ext cx="530352" cy="530352"/>
          </a:xfrm>
          <a:prstGeom prst="ellipse">
            <a:avLst/>
          </a:prstGeom>
          <a:solidFill>
            <a:srgbClr val="2387D9"/>
          </a:solidFill>
          <a:ln w="16510">
            <a:solidFill>
              <a:srgbClr val="2387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912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8728" y="35021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3008376"/>
            <a:ext cx="914400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95544" y="2743200"/>
            <a:ext cx="530352" cy="530352"/>
          </a:xfrm>
          <a:prstGeom prst="ellipse">
            <a:avLst/>
          </a:prstGeom>
          <a:solidFill>
            <a:srgbClr val="EAF6FD"/>
          </a:solidFill>
          <a:ln w="16510">
            <a:solidFill>
              <a:srgbClr val="6CC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5544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35021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08192" y="3008376"/>
            <a:ext cx="914400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23176" y="2743200"/>
            <a:ext cx="530352" cy="530352"/>
          </a:xfrm>
          <a:prstGeom prst="ellipse">
            <a:avLst/>
          </a:prstGeom>
          <a:solidFill>
            <a:srgbClr val="EAF6FD"/>
          </a:solidFill>
          <a:ln w="16510">
            <a:solidFill>
              <a:srgbClr val="6CC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3176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3992" y="35021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35824" y="3008376"/>
            <a:ext cx="914400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50808" y="2743200"/>
            <a:ext cx="530352" cy="530352"/>
          </a:xfrm>
          <a:prstGeom prst="ellipse">
            <a:avLst/>
          </a:prstGeom>
          <a:solidFill>
            <a:srgbClr val="EAF6FD"/>
          </a:solidFill>
          <a:ln w="16510">
            <a:solidFill>
              <a:srgbClr val="6CC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50808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21624" y="35021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363456" y="3008376"/>
            <a:ext cx="914400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378440" y="2743200"/>
            <a:ext cx="530352" cy="530352"/>
          </a:xfrm>
          <a:prstGeom prst="ellipse">
            <a:avLst/>
          </a:prstGeom>
          <a:solidFill>
            <a:srgbClr val="EAF6FD"/>
          </a:solidFill>
          <a:ln w="16510">
            <a:solidFill>
              <a:srgbClr val="6CC4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78440" y="28529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49256" y="35021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03120" y="4663440"/>
            <a:ext cx="7955280" cy="658368"/>
          </a:xfrm>
          <a:prstGeom prst="roundRect">
            <a:avLst>
              <a:gd name="adj" fmla="val 19444"/>
            </a:avLst>
          </a:prstGeom>
          <a:solidFill>
            <a:srgbClr val="EAF6FD"/>
          </a:solidFill>
          <a:ln w="8890">
            <a:solidFill>
              <a:srgbClr val="EAF6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is connected, traceable, and accessible from one platform.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Paperless Approval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 wherever business takes you.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084832"/>
            <a:ext cx="3657600" cy="3611880"/>
          </a:xfrm>
          <a:prstGeom prst="roundRect">
            <a:avLst>
              <a:gd name="adj" fmla="val 4557"/>
            </a:avLst>
          </a:prstGeom>
          <a:solidFill>
            <a:srgbClr val="EAF6FD"/>
          </a:solidFill>
          <a:ln w="8890">
            <a:solidFill>
              <a:srgbClr val="EAF6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2768" y="2404872"/>
            <a:ext cx="182880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27249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APPROVAL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10512" y="30906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PO-00125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10512" y="3502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review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47088" y="4041648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2387D9"/>
          </a:solidFill>
          <a:ln w="12700">
            <a:solidFill>
              <a:srgbClr val="238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4151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10512" y="46817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Anywhere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249424"/>
            <a:ext cx="146304" cy="146304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1488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PO details online.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800600" y="2907792"/>
            <a:ext cx="146304" cy="146304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8072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or reject without handling paper documents.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800600" y="3566160"/>
            <a:ext cx="146304" cy="146304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46557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email notifications for pending approvals.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800600" y="4224528"/>
            <a:ext cx="146304" cy="146304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12394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approval status in real time.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800600" y="4882896"/>
            <a:ext cx="146304" cy="146304"/>
          </a:xfrm>
          <a:prstGeom prst="ellipse">
            <a:avLst/>
          </a:prstGeom>
          <a:solidFill>
            <a:srgbClr val="6CC4F5"/>
          </a:solidFill>
          <a:ln w="12700">
            <a:solidFill>
              <a:srgbClr val="6CC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47823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a complete activity and decision history.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Available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Everything needed to keep the process connected.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176272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9BB6C9">
                <a:alpha val="1.4000000000000002e+4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16152" y="23408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2176272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9BB6C9">
                <a:alpha val="1.4e+5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931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05072" y="23408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176272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9BB6C9">
                <a:alpha val="1.4000000000000001e+5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93992" y="23408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Orders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2176272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2387D9"/>
          </a:solidFill>
          <a:ln w="8890">
            <a:solidFill>
              <a:srgbClr val="238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582912" y="23408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Approval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9BB6C9">
                <a:alpha val="1.4e+6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0392" y="33375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16152" y="33649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Documents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0" y="3200400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9BB6C9">
                <a:alpha val="1.4000000000000001e+6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39312" y="33375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05072" y="33649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Receiving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200400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9BB6C9">
                <a:alpha val="1.4e+7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28232" y="33375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93992" y="33649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Inventory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52560" y="3200400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9BB6C9">
                <a:alpha val="1.4e+79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17152" y="33375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582912" y="33649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Outgoing Materials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4224528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1.1633040817125008e+70" dist="2.3266081634250016e+70" dir="7.616996750131201e+82">
              <a:srgbClr val="9BB6C9">
                <a:alpha val="1.4000000000000001e+84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0392" y="43616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16152" y="43891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474720" y="4224528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1.477396183774876e+74" dist="2.954792367549752e+74" dir="4.57019805007872e+87">
              <a:srgbClr val="9BB6C9">
                <a:alpha val="1.4000000000000002e+8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39312" y="43616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005072" y="43891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&amp; Permissions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63640" y="4224528"/>
            <a:ext cx="248716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1.8762931533940924e+78" dist="3.752586306788185e+78" dir="2.742118830047232e+92">
              <a:srgbClr val="9BB6C9">
                <a:alpha val="1.4000000000000002e+94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28232" y="43616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CC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93992" y="43891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&amp; Activity Logs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Benefits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 waiting. Better control. Clearer decisions.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401568" cy="1207008"/>
          </a:xfrm>
          <a:prstGeom prst="roundRect">
            <a:avLst>
              <a:gd name="adj" fmla="val 10606"/>
            </a:avLst>
          </a:prstGeom>
          <a:solidFill>
            <a:srgbClr val="EAF6FD"/>
          </a:solidFill>
          <a:ln w="8890">
            <a:solidFill>
              <a:srgbClr val="6CC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77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27706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Shorter PO approval cycle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2148840"/>
            <a:ext cx="3401568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2.3828923048104974e+82" dist="4.765784609620995e+82" dir="1.6452712980283393e+97">
              <a:srgbClr val="9BB6C9">
                <a:alpha val="1.4000000000000001e+9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4" y="2377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Paperless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72584" y="27706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paper and manual handovers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2148840"/>
            <a:ext cx="3401568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3.0262732271093317e+86" dist="6.052546454218663e+86" dir="9.871627788170037e+101">
              <a:srgbClr val="9BB6C9">
                <a:alpha val="1.4000000000000002e+10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03336" y="2377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03336" y="27706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visibility across teams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630168"/>
            <a:ext cx="3401568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3.8433669984288512e+90" dist="7.6867339968577025e+90" dir="5.9229766729020215e+106">
              <a:srgbClr val="9BB6C9">
                <a:alpha val="1.4e+10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1832" y="3858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41832" y="4251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receiving and inventory records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16552" y="3630168"/>
            <a:ext cx="3401568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4.8810760880046414e+94" dist="9.762152176009283e+94" dir="3.553786003741213e+111">
              <a:srgbClr val="9BB6C9">
                <a:alpha val="1.4e+11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72584" y="3858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72584" y="4251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ownership and traceable activities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47304" y="3630168"/>
            <a:ext cx="3401568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8890">
            <a:solidFill>
              <a:srgbClr val="D9E8F2"/>
            </a:solidFill>
            <a:prstDash val="solid"/>
          </a:ln>
          <a:effectLst>
            <a:outerShdw sx="100000" sy="100000" kx="0" ky="0" algn="bl" rotWithShape="0" blurRad="6.198966631765894e+98" dist="1.2397933263531789e+99" dir="2.1322716022447277e+116">
              <a:srgbClr val="9BB6C9">
                <a:alpha val="1.4e+11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03336" y="3858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03336" y="4251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process that is easier to manage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to Fit Your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 today. Customizable for tomorrow.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271016" y="2240280"/>
            <a:ext cx="594360" cy="594360"/>
          </a:xfrm>
          <a:prstGeom prst="ellipse">
            <a:avLst/>
          </a:prstGeom>
          <a:solidFill>
            <a:srgbClr val="EAF6FD"/>
          </a:solidFill>
          <a:ln w="15240">
            <a:solidFill>
              <a:srgbClr val="6CC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23865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8528" y="2532888"/>
            <a:ext cx="932688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356616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current workflow and priorities.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57016" y="2240280"/>
            <a:ext cx="594360" cy="594360"/>
          </a:xfrm>
          <a:prstGeom prst="ellipse">
            <a:avLst/>
          </a:prstGeom>
          <a:solidFill>
            <a:srgbClr val="EAF6FD"/>
          </a:solidFill>
          <a:ln w="15240">
            <a:solidFill>
              <a:srgbClr val="6CC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23865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24528" y="2532888"/>
            <a:ext cx="932688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44368" y="356616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up users, roles, master data, and approval rules.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43016" y="2240280"/>
            <a:ext cx="594360" cy="594360"/>
          </a:xfrm>
          <a:prstGeom prst="ellipse">
            <a:avLst/>
          </a:prstGeom>
          <a:solidFill>
            <a:srgbClr val="EAF6FD"/>
          </a:solidFill>
          <a:ln w="15240">
            <a:solidFill>
              <a:srgbClr val="6CC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3016" y="23865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10528" y="2532888"/>
            <a:ext cx="932688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30368" y="356616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forms, documents, and workflows where needed.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29016" y="2240280"/>
            <a:ext cx="594360" cy="594360"/>
          </a:xfrm>
          <a:prstGeom prst="ellipse">
            <a:avLst/>
          </a:prstGeom>
          <a:solidFill>
            <a:srgbClr val="EAF6FD"/>
          </a:solidFill>
          <a:ln w="15240">
            <a:solidFill>
              <a:srgbClr val="6CC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9016" y="23865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96528" y="2532888"/>
            <a:ext cx="932688" cy="0"/>
          </a:xfrm>
          <a:prstGeom prst="line">
            <a:avLst/>
          </a:prstGeom>
          <a:noFill/>
          <a:ln w="25400">
            <a:solidFill>
              <a:srgbClr val="6CC4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16368" y="356616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process together with key users.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415016" y="2240280"/>
            <a:ext cx="594360" cy="594360"/>
          </a:xfrm>
          <a:prstGeom prst="ellipse">
            <a:avLst/>
          </a:prstGeom>
          <a:solidFill>
            <a:srgbClr val="2387D9"/>
          </a:solidFill>
          <a:ln w="15240">
            <a:solidFill>
              <a:srgbClr val="2387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15016" y="23865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02368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02368" y="356616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users and support the go-live.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834640" y="4892040"/>
            <a:ext cx="6492240" cy="566928"/>
          </a:xfrm>
          <a:prstGeom prst="roundRect">
            <a:avLst>
              <a:gd name="adj" fmla="val 20968"/>
            </a:avLst>
          </a:prstGeom>
          <a:solidFill>
            <a:srgbClr val="0B1F3A"/>
          </a:solidFill>
          <a:ln w="889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504748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rollout, shaped around the way your team works.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Estimated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focused path to implementation.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024128" y="2907792"/>
            <a:ext cx="9738360" cy="0"/>
          </a:xfrm>
          <a:prstGeom prst="line">
            <a:avLst/>
          </a:prstGeom>
          <a:noFill/>
          <a:ln w="38100">
            <a:solidFill>
              <a:srgbClr val="6CC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615184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C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7614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34015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Discovery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4206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week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39312" y="2615184"/>
            <a:ext cx="585216" cy="585216"/>
          </a:xfrm>
          <a:prstGeom prst="ellipse">
            <a:avLst/>
          </a:prstGeom>
          <a:solidFill>
            <a:srgbClr val="2387D9"/>
          </a:solidFill>
          <a:ln w="25400">
            <a:solidFill>
              <a:srgbClr val="238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7614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4015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&amp; Customization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4206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weeks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07024" y="2615184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C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27614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93792" y="34015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Testing &amp; Refinement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93792" y="4206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week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4736" y="2615184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C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736" y="27614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61504" y="34015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&amp; Go-Live Preparation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61504" y="4206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week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442448" y="2615184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C4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42448" y="27614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29216" y="34015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Go-Live Support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729216" y="4206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week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4892040"/>
            <a:ext cx="5806440" cy="530352"/>
          </a:xfrm>
          <a:prstGeom prst="roundRect">
            <a:avLst>
              <a:gd name="adj" fmla="val 20690"/>
            </a:avLst>
          </a:prstGeom>
          <a:solidFill>
            <a:srgbClr val="EAF6FD"/>
          </a:solidFill>
          <a:ln w="8890">
            <a:solidFill>
              <a:srgbClr val="EAF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5020056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total: 6–7 weeks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28800" y="5650992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578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timeline will be adjusted based on customization scope and user readiness.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 Deta MRP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594360" cy="0"/>
          </a:xfrm>
          <a:prstGeom prst="line">
            <a:avLst/>
          </a:prstGeom>
          <a:noFill/>
          <a:ln w="50800">
            <a:solidFill>
              <a:srgbClr val="6CC4F5"/>
            </a:solidFill>
            <a:prstDash val="solid"/>
            <a:headEnd type="none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walk through the process.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2387D9"/>
          </a:solidFill>
          <a:ln w="12700">
            <a:solidFill>
              <a:srgbClr val="238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2311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07592" y="213969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supplier order.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3232" y="2926080"/>
            <a:ext cx="384048" cy="384048"/>
          </a:xfrm>
          <a:prstGeom prst="ellipse">
            <a:avLst/>
          </a:prstGeom>
          <a:solidFill>
            <a:srgbClr val="2387D9"/>
          </a:solidFill>
          <a:ln w="12700">
            <a:solidFill>
              <a:srgbClr val="238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0083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07592" y="291693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it for online approval.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13232" y="3703320"/>
            <a:ext cx="384048" cy="384048"/>
          </a:xfrm>
          <a:prstGeom prst="ellipse">
            <a:avLst/>
          </a:prstGeom>
          <a:solidFill>
            <a:srgbClr val="2387D9"/>
          </a:solidFill>
          <a:ln w="12700">
            <a:solidFill>
              <a:srgbClr val="238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856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07592" y="369417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approve the PO.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91072" y="2148840"/>
            <a:ext cx="384048" cy="384048"/>
          </a:xfrm>
          <a:prstGeom prst="ellipse">
            <a:avLst/>
          </a:prstGeom>
          <a:solidFill>
            <a:srgbClr val="2387D9"/>
          </a:solidFill>
          <a:ln w="12700">
            <a:solidFill>
              <a:srgbClr val="238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22311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85432" y="213969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the required documents.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91072" y="2926080"/>
            <a:ext cx="384048" cy="384048"/>
          </a:xfrm>
          <a:prstGeom prst="ellipse">
            <a:avLst/>
          </a:prstGeom>
          <a:solidFill>
            <a:srgbClr val="2387D9"/>
          </a:solidFill>
          <a:ln w="12700">
            <a:solidFill>
              <a:srgbClr val="238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30083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85432" y="291693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materials using Kanban scanning.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291072" y="3703320"/>
            <a:ext cx="384048" cy="384048"/>
          </a:xfrm>
          <a:prstGeom prst="ellipse">
            <a:avLst/>
          </a:prstGeom>
          <a:solidFill>
            <a:srgbClr val="2387D9"/>
          </a:solidFill>
          <a:ln w="12700">
            <a:solidFill>
              <a:srgbClr val="2387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37856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85432" y="369417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inventory and transaction history.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13232" y="4828032"/>
            <a:ext cx="10771632" cy="749808"/>
          </a:xfrm>
          <a:prstGeom prst="roundRect">
            <a:avLst>
              <a:gd name="adj" fmla="val 19512"/>
            </a:avLst>
          </a:prstGeom>
          <a:solidFill>
            <a:srgbClr val="0B1F3A"/>
          </a:solidFill>
          <a:ln w="889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029200"/>
            <a:ext cx="10076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Align Deta MRP with your current process and identify the required customizations.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965960" y="5897880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38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Rather than adding more slides, let’s show you how it works.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8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Deta MRP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 MRP Client Proposal</dc:title>
  <dc:subject>Client Proposal</dc:subject>
  <dc:creator>Deta MRP</dc:creator>
  <cp:lastModifiedBy>Deta MRP</cp:lastModifiedBy>
  <cp:revision>1</cp:revision>
  <dcterms:created xsi:type="dcterms:W3CDTF">2026-08-01T14:02:38Z</dcterms:created>
  <dcterms:modified xsi:type="dcterms:W3CDTF">2026-08-01T14:02:38Z</dcterms:modified>
</cp:coreProperties>
</file>